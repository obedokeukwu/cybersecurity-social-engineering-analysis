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63" d="100"/>
          <a:sy n="63" d="100"/>
        </p:scale>
        <p:origin x="6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yke Obed" userId="cab3364746b70f1c" providerId="LiveId" clId="{78CD48C9-AACF-47CF-B0EF-B2FC8A81CE3D}"/>
    <pc:docChg chg="modSld">
      <pc:chgData name="Iyke Obed" userId="cab3364746b70f1c" providerId="LiveId" clId="{78CD48C9-AACF-47CF-B0EF-B2FC8A81CE3D}" dt="2025-09-29T04:25:00.784" v="20" actId="20577"/>
      <pc:docMkLst>
        <pc:docMk/>
      </pc:docMkLst>
      <pc:sldChg chg="modSp mod">
        <pc:chgData name="Iyke Obed" userId="cab3364746b70f1c" providerId="LiveId" clId="{78CD48C9-AACF-47CF-B0EF-B2FC8A81CE3D}" dt="2025-09-29T04:25:00.784" v="20" actId="20577"/>
        <pc:sldMkLst>
          <pc:docMk/>
          <pc:sldMk cId="109857222" sldId="256"/>
        </pc:sldMkLst>
        <pc:spChg chg="mod">
          <ac:chgData name="Iyke Obed" userId="cab3364746b70f1c" providerId="LiveId" clId="{78CD48C9-AACF-47CF-B0EF-B2FC8A81CE3D}" dt="2025-09-29T04:25:00.784" v="20" actId="20577"/>
          <ac:spMkLst>
            <pc:docMk/>
            <pc:sldMk cId="109857222" sldId="256"/>
            <ac:spMk id="3" creationId="{00000000-0000-0000-0000-000000000000}"/>
          </ac:spMkLst>
        </pc:spChg>
        <pc:picChg chg="mod">
          <ac:chgData name="Iyke Obed" userId="cab3364746b70f1c" providerId="LiveId" clId="{78CD48C9-AACF-47CF-B0EF-B2FC8A81CE3D}" dt="2025-09-29T04:24:56.049" v="19" actId="14100"/>
          <ac:picMkLst>
            <pc:docMk/>
            <pc:sldMk cId="109857222" sldId="256"/>
            <ac:picMk id="18" creationId="{632A55EA-2D91-DF11-71B4-06D013721516}"/>
          </ac:picMkLst>
        </pc:picChg>
      </pc:sldChg>
      <pc:sldChg chg="modSp mod">
        <pc:chgData name="Iyke Obed" userId="cab3364746b70f1c" providerId="LiveId" clId="{78CD48C9-AACF-47CF-B0EF-B2FC8A81CE3D}" dt="2025-09-29T04:21:26.413" v="0" actId="20577"/>
        <pc:sldMkLst>
          <pc:docMk/>
          <pc:sldMk cId="2955889047" sldId="261"/>
        </pc:sldMkLst>
        <pc:spChg chg="mod">
          <ac:chgData name="Iyke Obed" userId="cab3364746b70f1c" providerId="LiveId" clId="{78CD48C9-AACF-47CF-B0EF-B2FC8A81CE3D}" dt="2025-09-29T04:21:26.413" v="0" actId="20577"/>
          <ac:spMkLst>
            <pc:docMk/>
            <pc:sldMk cId="2955889047" sldId="261"/>
            <ac:spMk id="3" creationId="{6FF85B03-5835-0364-247C-78BFEA6A9777}"/>
          </ac:spMkLst>
        </pc:spChg>
      </pc:sldChg>
      <pc:sldChg chg="modSp mod">
        <pc:chgData name="Iyke Obed" userId="cab3364746b70f1c" providerId="LiveId" clId="{78CD48C9-AACF-47CF-B0EF-B2FC8A81CE3D}" dt="2025-09-29T04:24:16.327" v="15" actId="1035"/>
        <pc:sldMkLst>
          <pc:docMk/>
          <pc:sldMk cId="4151408451" sldId="263"/>
        </pc:sldMkLst>
        <pc:spChg chg="mod">
          <ac:chgData name="Iyke Obed" userId="cab3364746b70f1c" providerId="LiveId" clId="{78CD48C9-AACF-47CF-B0EF-B2FC8A81CE3D}" dt="2025-09-29T04:23:41.042" v="11" actId="20577"/>
          <ac:spMkLst>
            <pc:docMk/>
            <pc:sldMk cId="4151408451" sldId="263"/>
            <ac:spMk id="3" creationId="{14799C9C-FF9E-7B81-7D99-3ABB8DE269EF}"/>
          </ac:spMkLst>
        </pc:spChg>
        <pc:picChg chg="mod">
          <ac:chgData name="Iyke Obed" userId="cab3364746b70f1c" providerId="LiveId" clId="{78CD48C9-AACF-47CF-B0EF-B2FC8A81CE3D}" dt="2025-09-29T04:24:16.327" v="15" actId="1035"/>
          <ac:picMkLst>
            <pc:docMk/>
            <pc:sldMk cId="4151408451" sldId="263"/>
            <ac:picMk id="18" creationId="{8DB9F728-ABCE-E203-CCF5-CAB5499BA30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575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568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407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483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411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569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75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749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38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00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514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8249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www.nait.ca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enr.wes.org/" TargetMode="External"/><Relationship Id="rId2" Type="http://schemas.openxmlformats.org/officeDocument/2006/relationships/hyperlink" Target="https://doi.org/10.1145/1753326.1753383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575" y="782112"/>
            <a:ext cx="7625230" cy="1372231"/>
          </a:xfrm>
        </p:spPr>
        <p:txBody>
          <a:bodyPr>
            <a:normAutofit/>
          </a:bodyPr>
          <a:lstStyle/>
          <a:p>
            <a:r>
              <a:rPr lang="en-US" dirty="0"/>
              <a:t>HUMAN 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888" y="4455634"/>
            <a:ext cx="6812232" cy="1626919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Name: Obed </a:t>
            </a:r>
            <a:r>
              <a:rPr lang="en-US" sz="2400" dirty="0" err="1"/>
              <a:t>Okeukwu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dirty="0"/>
              <a:t>Course Code: CYBR340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Assignment Title: Reconnaissance and Phishing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Date: September 27, 2025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632A55EA-2D91-DF11-71B4-06D0137215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917"/>
          <a:stretch>
            <a:fillRect/>
          </a:stretch>
        </p:blipFill>
        <p:spPr>
          <a:xfrm>
            <a:off x="6898640" y="10"/>
            <a:ext cx="529336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228AB-A4D4-2036-B553-FCB9C6C19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F9BC495-63D9-3BFE-0670-F0C01CDB8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E195FB-5AC5-5EA9-E8F5-F32566E81E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575" y="782112"/>
            <a:ext cx="7625230" cy="1372231"/>
          </a:xfrm>
        </p:spPr>
        <p:txBody>
          <a:bodyPr>
            <a:normAutofit/>
          </a:bodyPr>
          <a:lstStyle/>
          <a:p>
            <a:r>
              <a:rPr lang="en-US" sz="4000" dirty="0"/>
              <a:t>Introduction</a:t>
            </a:r>
          </a:p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F86014-0BAD-C175-2C28-E45C3BDB95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094" y="2539428"/>
            <a:ext cx="7124863" cy="3599152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/>
              <a:t>Objectives:</a:t>
            </a:r>
            <a:endParaRPr lang="en-US" sz="1600" dirty="0"/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1600" b="1" dirty="0"/>
              <a:t>Reconnaissance:</a:t>
            </a:r>
            <a:r>
              <a:rPr lang="en-US" sz="1600" dirty="0"/>
              <a:t> Collect public, non‑intrusive information about the target to understand motivations, routines, and communication habits.</a:t>
            </a: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1600" b="1" dirty="0"/>
              <a:t>Profile:</a:t>
            </a:r>
            <a:r>
              <a:rPr lang="en-US" sz="1600" dirty="0"/>
              <a:t> Synthesize gathered data into a clear target profile that explains why the target is susceptible to social‑engineering.</a:t>
            </a: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1600" b="1" dirty="0"/>
              <a:t>Phishing Email:</a:t>
            </a:r>
            <a:r>
              <a:rPr lang="en-US" sz="1600" dirty="0"/>
              <a:t> Craft a professional, plausible phishing email that leverages the profile’s weaknesses to elicit a click — ensuring all links redirect only to the legitimate NAIT site (</a:t>
            </a:r>
            <a:r>
              <a:rPr lang="en-US" sz="1600" dirty="0">
                <a:latin typeface="Consolas"/>
                <a:hlinkClick r:id="rId2"/>
              </a:rPr>
              <a:t>https://www.nait.ca</a:t>
            </a:r>
            <a:r>
              <a:rPr lang="en-US" sz="1600" dirty="0"/>
              <a:t>) for safety and compliance.</a:t>
            </a: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1600" b="1" dirty="0"/>
              <a:t>Learning outcomes:</a:t>
            </a:r>
            <a:r>
              <a:rPr lang="en-US" sz="1600" dirty="0"/>
              <a:t> Demonstrate practical reconnaissance techniques, apply social‑engineering principles (authority, urgency, trust, social proof), and evaluate ethical considerations and mitigations to improve awareness and defensive posture.</a:t>
            </a:r>
          </a:p>
          <a:p>
            <a:pPr>
              <a:lnSpc>
                <a:spcPct val="100000"/>
              </a:lnSpc>
            </a:pPr>
            <a:endParaRPr lang="en-US" sz="24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6186D95-6E39-3F2B-0584-139A738CB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31F7839-00B4-5E87-4608-FC8D2C351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9BD68D25-FB99-72B6-EE15-78211ABE17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917"/>
          <a:stretch>
            <a:fillRect/>
          </a:stretch>
        </p:blipFill>
        <p:spPr>
          <a:xfrm>
            <a:off x="7624482" y="10"/>
            <a:ext cx="456751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416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409DD-42CE-FC72-7D68-A52330E5F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83A91E5-64C3-5C54-CD25-B30D4B59F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5517-599E-12C3-A23A-713A9ECAA9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575" y="748495"/>
            <a:ext cx="6751172" cy="1092084"/>
          </a:xfrm>
        </p:spPr>
        <p:txBody>
          <a:bodyPr>
            <a:normAutofit/>
          </a:bodyPr>
          <a:lstStyle/>
          <a:p>
            <a:r>
              <a:rPr lang="en-US" sz="4000" dirty="0"/>
              <a:t>TARGET AUDIENCE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E7F45D-4A52-0A73-A4A2-1B516333B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770" y="1710195"/>
            <a:ext cx="6676627" cy="4047387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Calisto MT"/>
                <a:ea typeface="+mn-lt"/>
                <a:cs typeface="Arial"/>
              </a:rPr>
              <a:t>Prospective International Students applying to Colleges/Universities</a:t>
            </a:r>
            <a:endParaRPr lang="en-US" b="1">
              <a:latin typeface="Calisto MT"/>
              <a:cs typeface="Arial"/>
            </a:endParaRPr>
          </a:p>
          <a:p>
            <a:pPr>
              <a:lnSpc>
                <a:spcPct val="100000"/>
              </a:lnSpc>
            </a:pPr>
            <a:br>
              <a:rPr lang="en-US" sz="2400" dirty="0">
                <a:ea typeface="+mn-lt"/>
                <a:cs typeface="+mn-lt"/>
              </a:rPr>
            </a:br>
            <a:r>
              <a:rPr lang="en-US" sz="2400" b="1" dirty="0">
                <a:latin typeface="Calisto MT"/>
                <a:ea typeface="+mn-lt"/>
                <a:cs typeface="+mn-lt"/>
              </a:rPr>
              <a:t>Rationale:</a:t>
            </a:r>
            <a:endParaRPr lang="en-US" b="1">
              <a:latin typeface="Calisto MT"/>
              <a:ea typeface="+mn-lt"/>
              <a:cs typeface="+mn-lt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400" dirty="0">
                <a:latin typeface="Calisto MT"/>
                <a:ea typeface="+mn-lt"/>
                <a:cs typeface="+mn-lt"/>
              </a:rPr>
              <a:t>Highly motivated to secure admission</a:t>
            </a:r>
            <a:endParaRPr lang="en-US">
              <a:latin typeface="Calisto MT"/>
              <a:ea typeface="+mn-lt"/>
              <a:cs typeface="+mn-lt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400" dirty="0">
                <a:latin typeface="Calisto MT"/>
                <a:ea typeface="+mn-lt"/>
                <a:cs typeface="+mn-lt"/>
              </a:rPr>
              <a:t>Time-sensitive deadlines</a:t>
            </a:r>
            <a:endParaRPr lang="en-US">
              <a:latin typeface="Calisto MT"/>
              <a:ea typeface="+mn-lt"/>
              <a:cs typeface="+mn-lt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400" dirty="0">
                <a:latin typeface="Calisto MT"/>
                <a:ea typeface="+mn-lt"/>
                <a:cs typeface="+mn-lt"/>
              </a:rPr>
              <a:t>Rely on official communications</a:t>
            </a:r>
            <a:endParaRPr lang="en-US">
              <a:latin typeface="Calisto MT"/>
              <a:ea typeface="+mn-lt"/>
              <a:cs typeface="+mn-lt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400" dirty="0">
                <a:latin typeface="Calisto MT"/>
                <a:ea typeface="+mn-lt"/>
                <a:cs typeface="+mn-lt"/>
              </a:rPr>
              <a:t>Possible language barriers.</a:t>
            </a:r>
            <a:endParaRPr lang="en-US">
              <a:latin typeface="Calisto MT"/>
              <a:cs typeface="Arial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29120AE-2875-07AA-2516-80D2F23A19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6C335ED-F905-C1FC-6E64-461418997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36750B6F-75CF-CB3C-A17D-71C9AC1A0C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917"/>
          <a:stretch>
            <a:fillRect/>
          </a:stretch>
        </p:blipFill>
        <p:spPr>
          <a:xfrm>
            <a:off x="7377952" y="10"/>
            <a:ext cx="481404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640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51814-5553-439E-9C68-4A2F54A25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E3EC914-5E11-91C7-DBA9-5311E2B04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1B2372-42FC-F8AA-3131-87EFA0909B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575" y="759702"/>
            <a:ext cx="7681259" cy="1394641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ea typeface="+mj-lt"/>
                <a:cs typeface="+mj-lt"/>
              </a:rPr>
              <a:t>Target Profile — Demographics &amp; Psychographics</a:t>
            </a:r>
            <a:endParaRPr lang="en-US" sz="4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F85B03-5835-0364-247C-78BFEA6A97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742" y="1205928"/>
            <a:ext cx="6945568" cy="5862738"/>
          </a:xfrm>
        </p:spPr>
        <p:txBody>
          <a:bodyPr vert="horz" lIns="91440" tIns="45720" rIns="91440" bIns="45720" rtlCol="0" anchor="b">
            <a:noAutofit/>
          </a:bodyPr>
          <a:lstStyle/>
          <a:p>
            <a:pPr marL="342900" indent="-342900">
              <a:lnSpc>
                <a:spcPct val="100000"/>
              </a:lnSpc>
              <a:buChar char="•"/>
            </a:pPr>
            <a:r>
              <a:rPr lang="en-US" sz="2400" b="1" dirty="0">
                <a:ea typeface="+mn-lt"/>
                <a:cs typeface="+mn-lt"/>
              </a:rPr>
              <a:t>Age</a:t>
            </a:r>
            <a:r>
              <a:rPr lang="en-US" sz="2400" dirty="0">
                <a:ea typeface="+mn-lt"/>
                <a:cs typeface="+mn-lt"/>
              </a:rPr>
              <a:t>: 18–30</a:t>
            </a:r>
            <a:endParaRPr lang="en-US" dirty="0">
              <a:ea typeface="+mn-lt"/>
              <a:cs typeface="+mn-lt"/>
            </a:endParaRPr>
          </a:p>
          <a:p>
            <a:pPr marL="342900" indent="-342900">
              <a:lnSpc>
                <a:spcPct val="100000"/>
              </a:lnSpc>
              <a:buFont typeface="Arial,Sans-Serif" panose="020B0604020202020204" pitchFamily="34" charset="0"/>
              <a:buChar char="•"/>
            </a:pPr>
            <a:r>
              <a:rPr lang="en-US" sz="2400" b="1" dirty="0">
                <a:ea typeface="+mn-lt"/>
                <a:cs typeface="+mn-lt"/>
              </a:rPr>
              <a:t>Location</a:t>
            </a:r>
            <a:r>
              <a:rPr lang="en-US" sz="2400" dirty="0">
                <a:ea typeface="+mn-lt"/>
                <a:cs typeface="+mn-lt"/>
              </a:rPr>
              <a:t>: Outside Canada (e.g., India, China, Philippines, Nigeria)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ea typeface="+mn-lt"/>
                <a:cs typeface="+mn-lt"/>
              </a:rPr>
              <a:t>Motivations</a:t>
            </a:r>
            <a:r>
              <a:rPr lang="en-US" sz="2400" dirty="0">
                <a:ea typeface="+mn-lt"/>
                <a:cs typeface="+mn-lt"/>
              </a:rPr>
              <a:t>: Secure admission, complete visa paperwork, pay deposits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ea typeface="+mn-lt"/>
                <a:cs typeface="+mn-lt"/>
              </a:rPr>
              <a:t>Vulnerabilities</a:t>
            </a:r>
            <a:r>
              <a:rPr lang="en-US" sz="2400" dirty="0">
                <a:ea typeface="+mn-lt"/>
                <a:cs typeface="+mn-lt"/>
              </a:rPr>
              <a:t>: Urgency, trust in institutional emails, language differences</a:t>
            </a:r>
          </a:p>
          <a:p>
            <a:pPr>
              <a:lnSpc>
                <a:spcPct val="100000"/>
              </a:lnSpc>
            </a:pPr>
            <a:br>
              <a:rPr lang="en-US" sz="2400" dirty="0">
                <a:ea typeface="+mn-lt"/>
                <a:cs typeface="+mn-lt"/>
              </a:rPr>
            </a:br>
            <a:br>
              <a:rPr lang="en-US" sz="2400" dirty="0">
                <a:ea typeface="+mn-lt"/>
                <a:cs typeface="+mn-lt"/>
              </a:rPr>
            </a:br>
            <a:br>
              <a:rPr lang="en-US" sz="2400" dirty="0">
                <a:ea typeface="+mn-lt"/>
                <a:cs typeface="+mn-lt"/>
              </a:rPr>
            </a:br>
            <a:endParaRPr lang="en-US" sz="24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7E30C46-B385-ECB6-DF10-AF2F06E0A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108E3B8-AA33-F77F-5B97-98775C48C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91AC2BFC-9E9B-C473-C65F-C480D031AF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917"/>
          <a:stretch>
            <a:fillRect/>
          </a:stretch>
        </p:blipFill>
        <p:spPr>
          <a:xfrm>
            <a:off x="8308041" y="10"/>
            <a:ext cx="3883959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889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088D2-ABE3-6DAE-3A98-0E014395B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434E448-C442-C401-091D-5AAA936C1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674C49-A151-5B4E-FA0C-598F0722AB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575" y="782112"/>
            <a:ext cx="7625230" cy="1372231"/>
          </a:xfrm>
        </p:spPr>
        <p:txBody>
          <a:bodyPr>
            <a:normAutofit/>
          </a:bodyPr>
          <a:lstStyle/>
          <a:p>
            <a:r>
              <a:rPr lang="en-US" sz="4000" dirty="0">
                <a:ea typeface="+mj-lt"/>
                <a:cs typeface="+mj-lt"/>
              </a:rPr>
              <a:t>Reconnaissance Methods / Tools Used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52D05E-2B03-CDD9-FE25-DC76CDB0E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770" y="2337721"/>
            <a:ext cx="6676627" cy="2904388"/>
          </a:xfrm>
        </p:spPr>
        <p:txBody>
          <a:bodyPr vert="horz" lIns="91440" tIns="45720" rIns="91440" bIns="45720" rtlCol="0" anchor="b">
            <a:noAutofit/>
          </a:bodyPr>
          <a:lstStyle/>
          <a:p>
            <a:pPr marL="342900" indent="-342900">
              <a:lnSpc>
                <a:spcPct val="100000"/>
              </a:lnSpc>
              <a:buChar char="•"/>
            </a:pPr>
            <a:r>
              <a:rPr lang="en-US" sz="2400" dirty="0">
                <a:ea typeface="+mn-lt"/>
                <a:cs typeface="+mn-lt"/>
              </a:rPr>
              <a:t>University public website (admissions pages)</a:t>
            </a:r>
            <a:endParaRPr lang="en-US" dirty="0">
              <a:ea typeface="+mn-lt"/>
              <a:cs typeface="+mn-lt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400" dirty="0">
                <a:ea typeface="+mn-lt"/>
                <a:cs typeface="+mn-lt"/>
              </a:rPr>
              <a:t>Applicant forums and social media groups (observational)</a:t>
            </a:r>
            <a:endParaRPr lang="en-US" dirty="0">
              <a:ea typeface="+mn-lt"/>
              <a:cs typeface="+mn-lt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400" dirty="0">
                <a:ea typeface="+mn-lt"/>
                <a:cs typeface="+mn-lt"/>
              </a:rPr>
              <a:t>General knowledge of admission workflows and timelines</a:t>
            </a:r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E6A0FB7-4EB0-810B-E9A5-18AC5308F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F325D70-9D06-4DA6-B679-BDAE746E5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9E6D5D7A-177B-60A8-647F-6E8723669E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917"/>
          <a:stretch>
            <a:fillRect/>
          </a:stretch>
        </p:blipFill>
        <p:spPr>
          <a:xfrm>
            <a:off x="7613275" y="10"/>
            <a:ext cx="457872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669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01252-E165-DCC6-204B-F9294E1FF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231542F-D210-B009-53A9-4F111F920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32982-DADE-ABEE-6012-1EED8B69C8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575" y="782112"/>
            <a:ext cx="7625230" cy="1372231"/>
          </a:xfrm>
        </p:spPr>
        <p:txBody>
          <a:bodyPr>
            <a:normAutofit/>
          </a:bodyPr>
          <a:lstStyle/>
          <a:p>
            <a:r>
              <a:rPr lang="en-US" sz="4000" dirty="0">
                <a:ea typeface="+mj-lt"/>
                <a:cs typeface="+mj-lt"/>
              </a:rPr>
              <a:t>Social-Engineering (SE) Framework Mapping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799C9C-FF9E-7B81-7D99-3ABB8DE269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300" y="2158428"/>
            <a:ext cx="6676627" cy="4036182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ea typeface="+mn-lt"/>
                <a:cs typeface="+mn-lt"/>
              </a:rPr>
              <a:t>Authority:</a:t>
            </a:r>
            <a:r>
              <a:rPr lang="en-US" sz="2400" dirty="0">
                <a:ea typeface="+mn-lt"/>
                <a:cs typeface="+mn-lt"/>
              </a:rPr>
              <a:t> MacEwan branding and formal language</a:t>
            </a:r>
            <a:endParaRPr lang="en-US" dirty="0"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br>
              <a:rPr lang="en-US" sz="2400" dirty="0">
                <a:ea typeface="+mn-lt"/>
                <a:cs typeface="+mn-lt"/>
              </a:rPr>
            </a:br>
            <a:r>
              <a:rPr lang="en-US" sz="2400" b="1" dirty="0">
                <a:ea typeface="+mn-lt"/>
                <a:cs typeface="+mn-lt"/>
              </a:rPr>
              <a:t>Urgency:</a:t>
            </a:r>
            <a:r>
              <a:rPr lang="en-US" sz="2400" dirty="0">
                <a:ea typeface="+mn-lt"/>
                <a:cs typeface="+mn-lt"/>
              </a:rPr>
              <a:t> Threat of offer cancellation or visa delay</a:t>
            </a:r>
            <a:endParaRPr lang="en-US" dirty="0"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br>
              <a:rPr lang="en-US" sz="2400" dirty="0">
                <a:ea typeface="+mn-lt"/>
                <a:cs typeface="+mn-lt"/>
              </a:rPr>
            </a:br>
            <a:r>
              <a:rPr lang="en-US" sz="2400" b="1" dirty="0">
                <a:ea typeface="+mn-lt"/>
                <a:cs typeface="+mn-lt"/>
              </a:rPr>
              <a:t>Social Proof:</a:t>
            </a:r>
            <a:r>
              <a:rPr lang="en-US" sz="2400" dirty="0">
                <a:ea typeface="+mn-lt"/>
                <a:cs typeface="+mn-lt"/>
              </a:rPr>
              <a:t> References to common required documents and processes</a:t>
            </a:r>
            <a:endParaRPr lang="en-US" dirty="0"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br>
              <a:rPr lang="en-US" sz="2400" dirty="0">
                <a:ea typeface="+mn-lt"/>
                <a:cs typeface="+mn-lt"/>
              </a:rPr>
            </a:br>
            <a:r>
              <a:rPr lang="en-US" sz="2400" b="1" dirty="0">
                <a:ea typeface="+mn-lt"/>
                <a:cs typeface="+mn-lt"/>
              </a:rPr>
              <a:t>Simplicity:</a:t>
            </a:r>
            <a:r>
              <a:rPr lang="en-US" sz="2400" dirty="0">
                <a:ea typeface="+mn-lt"/>
                <a:cs typeface="+mn-lt"/>
              </a:rPr>
              <a:t> Clear link to click</a:t>
            </a:r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DD38202-01F2-C569-5108-FDE135FD5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9F77435-41FD-E07A-7237-3C5B348132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8DB9F728-ABCE-E203-CCF5-CAB5499BA3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917"/>
          <a:stretch>
            <a:fillRect/>
          </a:stretch>
        </p:blipFill>
        <p:spPr>
          <a:xfrm>
            <a:off x="7221070" y="-40630"/>
            <a:ext cx="497093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408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77512-057C-F5F0-84DB-AF9E04804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C7034B10-922C-0C92-130B-F0C9F8F865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799818-5DC3-7153-04A3-69DCBDEAE9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575" y="748495"/>
            <a:ext cx="6235701" cy="1405848"/>
          </a:xfrm>
        </p:spPr>
        <p:txBody>
          <a:bodyPr>
            <a:normAutofit/>
          </a:bodyPr>
          <a:lstStyle/>
          <a:p>
            <a:r>
              <a:rPr lang="en-US" sz="4000" dirty="0">
                <a:ea typeface="+mj-lt"/>
                <a:cs typeface="+mj-lt"/>
              </a:rPr>
              <a:t>Phishing Email — Visual Example</a:t>
            </a:r>
            <a:endParaRPr lang="en-US" sz="40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6AFF30A-B7F2-A4AA-E115-BFB1CBB49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ACDB45B-2E6D-9D31-57DD-8A79219CB3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89A104A2-25D2-A214-172F-4FB741DAAA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917"/>
          <a:stretch>
            <a:fillRect/>
          </a:stretch>
        </p:blipFill>
        <p:spPr>
          <a:xfrm>
            <a:off x="8740131" y="10"/>
            <a:ext cx="3451869" cy="6857990"/>
          </a:xfrm>
          <a:prstGeom prst="rect">
            <a:avLst/>
          </a:prstGeom>
        </p:spPr>
      </p:pic>
      <p:pic>
        <p:nvPicPr>
          <p:cNvPr id="5" name="Picture 4" descr="A close-up of a document&#10;&#10;AI-generated content may be incorrect.">
            <a:extLst>
              <a:ext uri="{FF2B5EF4-FFF2-40B4-BE49-F238E27FC236}">
                <a16:creationId xmlns:a16="http://schemas.microsoft.com/office/drawing/2014/main" id="{AA664637-C518-5855-8974-C76558E5A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19" y="1983377"/>
            <a:ext cx="8194084" cy="392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973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3EA5D-E12E-482C-A7E9-4443BA2AB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6477C74-C1A0-1254-59EA-0C4501D4B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ABED49-AA1C-58E8-70D2-A832B6B13C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575" y="782112"/>
            <a:ext cx="7470247" cy="1372231"/>
          </a:xfrm>
        </p:spPr>
        <p:txBody>
          <a:bodyPr>
            <a:normAutofit/>
          </a:bodyPr>
          <a:lstStyle/>
          <a:p>
            <a:r>
              <a:rPr lang="en-US" sz="4000" dirty="0"/>
              <a:t>Phishing Email — Visual Example</a:t>
            </a:r>
            <a:endParaRPr lang="en-US" dirty="0" err="1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2ED620F-A899-8CC8-44FF-9FC68B98F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FE6B89C-7F2B-81C1-7BFF-8C7DB369A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04C150A0-D082-1861-3EEE-00B88424DE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917"/>
          <a:stretch>
            <a:fillRect/>
          </a:stretch>
        </p:blipFill>
        <p:spPr>
          <a:xfrm>
            <a:off x="8155337" y="10"/>
            <a:ext cx="4036663" cy="6857990"/>
          </a:xfrm>
          <a:prstGeom prst="rect">
            <a:avLst/>
          </a:prstGeom>
        </p:spPr>
      </p:pic>
      <p:pic>
        <p:nvPicPr>
          <p:cNvPr id="6" name="Picture 5" descr="A close-up of a email&#10;&#10;AI-generated content may be incorrect.">
            <a:extLst>
              <a:ext uri="{FF2B5EF4-FFF2-40B4-BE49-F238E27FC236}">
                <a16:creationId xmlns:a16="http://schemas.microsoft.com/office/drawing/2014/main" id="{515F9371-B832-7C8A-C67E-C23B62DB6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18" y="2117860"/>
            <a:ext cx="7214945" cy="403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45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2BB24-04C6-EEDE-F19C-B31DD7408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31221E6-E3B8-FCF1-7AB8-2CAC3AEC8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230130-6ED2-DAED-3C63-DFF60F980E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575" y="748495"/>
            <a:ext cx="7972612" cy="1405848"/>
          </a:xfrm>
        </p:spPr>
        <p:txBody>
          <a:bodyPr>
            <a:normAutofit/>
          </a:bodyPr>
          <a:lstStyle/>
          <a:p>
            <a:r>
              <a:rPr lang="en-US" sz="4000" dirty="0">
                <a:ea typeface="+mj-lt"/>
                <a:cs typeface="+mj-lt"/>
              </a:rPr>
              <a:t>Why the Target Will Fall For It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FEFB62-E0A9-2EA9-BB92-9E4AC6063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88" y="1463665"/>
            <a:ext cx="8256656" cy="523520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400" dirty="0">
                <a:ea typeface="+mn-lt"/>
                <a:cs typeface="+mn-lt"/>
              </a:rPr>
              <a:t>• </a:t>
            </a:r>
            <a:r>
              <a:rPr lang="en-US" sz="2400" b="1" dirty="0">
                <a:ea typeface="+mn-lt"/>
                <a:cs typeface="+mn-lt"/>
              </a:rPr>
              <a:t>Authority</a:t>
            </a:r>
            <a:r>
              <a:rPr lang="en-US" sz="2400" dirty="0">
                <a:ea typeface="+mn-lt"/>
                <a:cs typeface="+mn-lt"/>
              </a:rPr>
              <a:t>: Appears from International Admissions</a:t>
            </a:r>
          </a:p>
          <a:p>
            <a:br>
              <a:rPr lang="en-US" sz="2400" dirty="0">
                <a:ea typeface="+mn-lt"/>
                <a:cs typeface="+mn-lt"/>
              </a:rPr>
            </a:br>
            <a:r>
              <a:rPr lang="en-US" sz="2400" dirty="0">
                <a:ea typeface="+mn-lt"/>
                <a:cs typeface="+mn-lt"/>
              </a:rPr>
              <a:t> • </a:t>
            </a:r>
            <a:r>
              <a:rPr lang="en-US" sz="2400" b="1" dirty="0">
                <a:ea typeface="+mn-lt"/>
                <a:cs typeface="+mn-lt"/>
              </a:rPr>
              <a:t>Urgency</a:t>
            </a:r>
            <a:r>
              <a:rPr lang="en-US" sz="2400" dirty="0">
                <a:ea typeface="+mn-lt"/>
                <a:cs typeface="+mn-lt"/>
              </a:rPr>
              <a:t>: Risk of offer cancellation motivates quick action</a:t>
            </a:r>
          </a:p>
          <a:p>
            <a:br>
              <a:rPr lang="en-US" sz="2400" dirty="0">
                <a:ea typeface="+mn-lt"/>
                <a:cs typeface="+mn-lt"/>
              </a:rPr>
            </a:br>
            <a:r>
              <a:rPr lang="en-US" sz="2400" dirty="0">
                <a:ea typeface="+mn-lt"/>
                <a:cs typeface="+mn-lt"/>
              </a:rPr>
              <a:t> • </a:t>
            </a:r>
            <a:r>
              <a:rPr lang="en-US" sz="2400" b="1" dirty="0">
                <a:ea typeface="+mn-lt"/>
                <a:cs typeface="+mn-lt"/>
              </a:rPr>
              <a:t>Trust </a:t>
            </a:r>
            <a:r>
              <a:rPr lang="en-US" sz="2400" dirty="0">
                <a:ea typeface="+mn-lt"/>
                <a:cs typeface="+mn-lt"/>
              </a:rPr>
              <a:t>&amp; </a:t>
            </a:r>
            <a:r>
              <a:rPr lang="en-US" sz="2400" b="1" dirty="0">
                <a:ea typeface="+mn-lt"/>
                <a:cs typeface="+mn-lt"/>
              </a:rPr>
              <a:t>Familiarity</a:t>
            </a:r>
            <a:r>
              <a:rPr lang="en-US" sz="2400" dirty="0">
                <a:ea typeface="+mn-lt"/>
                <a:cs typeface="+mn-lt"/>
              </a:rPr>
              <a:t>: Familiar process (document upload,              deposit)</a:t>
            </a:r>
          </a:p>
          <a:p>
            <a:br>
              <a:rPr lang="en-US" sz="2400" dirty="0">
                <a:ea typeface="+mn-lt"/>
                <a:cs typeface="+mn-lt"/>
              </a:rPr>
            </a:b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b="1" dirty="0">
                <a:ea typeface="+mn-lt"/>
                <a:cs typeface="+mn-lt"/>
              </a:rPr>
              <a:t>• Language/Stress</a:t>
            </a:r>
            <a:r>
              <a:rPr lang="en-US" sz="2400" dirty="0">
                <a:ea typeface="+mn-lt"/>
                <a:cs typeface="+mn-lt"/>
              </a:rPr>
              <a:t>: May reduce careful verification</a:t>
            </a:r>
            <a:endParaRPr lang="en-US" sz="2400"/>
          </a:p>
          <a:p>
            <a:pPr>
              <a:lnSpc>
                <a:spcPct val="100000"/>
              </a:lnSpc>
            </a:pPr>
            <a:endParaRPr lang="en-US" sz="24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CBD87EA-6F5F-3004-A7FD-84B6B8846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C6DA308-8212-C610-3FD4-CFC4182A7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EBF6B5E2-1040-D08C-839F-23BD03BB31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917"/>
          <a:stretch>
            <a:fillRect/>
          </a:stretch>
        </p:blipFill>
        <p:spPr>
          <a:xfrm>
            <a:off x="8453717" y="10"/>
            <a:ext cx="373828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872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B5F35-DF67-342E-7833-E442643B6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C7D6E1F5-4EC3-6F71-DD15-EB7E1C1E9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4F6F98-7EC5-DA49-650B-70EDB3B05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575" y="748495"/>
            <a:ext cx="7972612" cy="1405848"/>
          </a:xfrm>
        </p:spPr>
        <p:txBody>
          <a:bodyPr>
            <a:normAutofit/>
          </a:bodyPr>
          <a:lstStyle/>
          <a:p>
            <a:r>
              <a:rPr lang="en-US" sz="4000" dirty="0">
                <a:ea typeface="+mj-lt"/>
                <a:cs typeface="+mj-lt"/>
              </a:rPr>
              <a:t>ETHICS AND SAFETY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59C78F-5B73-0E14-2542-777575166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88" y="2035165"/>
            <a:ext cx="8256656" cy="1268326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400" dirty="0">
                <a:ea typeface="+mn-lt"/>
                <a:cs typeface="+mn-lt"/>
              </a:rPr>
              <a:t>This is an academic exercise. No malicious links used.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>
                <a:ea typeface="+mn-lt"/>
                <a:cs typeface="+mn-lt"/>
              </a:rPr>
              <a:t> All links point to https://www.nait.ca as required.</a:t>
            </a:r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FA0313D-7FD9-8EBD-C9BD-1C3491B8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3BA73A6-6B02-742E-DE99-A4A6A229C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B0A8E456-E299-755C-33D2-1466184EAB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917"/>
          <a:stretch>
            <a:fillRect/>
          </a:stretch>
        </p:blipFill>
        <p:spPr>
          <a:xfrm>
            <a:off x="8453717" y="10"/>
            <a:ext cx="373828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144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F8E02-557E-0D4C-56B9-84CE8B7E0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648457E-AF4B-A2EC-94BF-4B54476B2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9B173C-CD31-4F4C-0804-4D8C47ACD8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575" y="748495"/>
            <a:ext cx="7972612" cy="1405848"/>
          </a:xfrm>
        </p:spPr>
        <p:txBody>
          <a:bodyPr>
            <a:normAutofit/>
          </a:bodyPr>
          <a:lstStyle/>
          <a:p>
            <a:r>
              <a:rPr lang="en-US" sz="4000" dirty="0">
                <a:ea typeface="+mj-lt"/>
                <a:cs typeface="+mj-lt"/>
              </a:rPr>
              <a:t>Mitigations &amp; Recommendations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788493-F41D-AB47-B699-B5B113B2E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88" y="2035165"/>
            <a:ext cx="8256656" cy="4058589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400" dirty="0">
                <a:ea typeface="+mn-lt"/>
                <a:cs typeface="+mn-lt"/>
              </a:rPr>
              <a:t>• MFA for applicant portals</a:t>
            </a:r>
            <a:endParaRPr lang="en-US" dirty="0">
              <a:ea typeface="+mn-lt"/>
              <a:cs typeface="+mn-lt"/>
            </a:endParaRPr>
          </a:p>
          <a:p>
            <a:br>
              <a:rPr lang="en-US" sz="2400" dirty="0">
                <a:ea typeface="+mn-lt"/>
                <a:cs typeface="+mn-lt"/>
              </a:rPr>
            </a:br>
            <a:r>
              <a:rPr lang="en-US" sz="2400" dirty="0">
                <a:ea typeface="+mn-lt"/>
                <a:cs typeface="+mn-lt"/>
              </a:rPr>
              <a:t> • Verified payment channels and guidance</a:t>
            </a:r>
            <a:endParaRPr lang="en-US" dirty="0">
              <a:ea typeface="+mn-lt"/>
              <a:cs typeface="+mn-lt"/>
            </a:endParaRPr>
          </a:p>
          <a:p>
            <a:br>
              <a:rPr lang="en-US" sz="2400" dirty="0">
                <a:ea typeface="+mn-lt"/>
                <a:cs typeface="+mn-lt"/>
              </a:rPr>
            </a:br>
            <a:r>
              <a:rPr lang="en-US" sz="2400" dirty="0">
                <a:ea typeface="+mn-lt"/>
                <a:cs typeface="+mn-lt"/>
              </a:rPr>
              <a:t> • Clear sender policies and applicant training</a:t>
            </a:r>
            <a:endParaRPr lang="en-US" dirty="0">
              <a:ea typeface="+mn-lt"/>
              <a:cs typeface="+mn-lt"/>
            </a:endParaRPr>
          </a:p>
          <a:p>
            <a:br>
              <a:rPr lang="en-US" sz="2400" dirty="0">
                <a:ea typeface="+mn-lt"/>
                <a:cs typeface="+mn-lt"/>
              </a:rPr>
            </a:br>
            <a:r>
              <a:rPr lang="en-US" sz="2400" dirty="0">
                <a:ea typeface="+mn-lt"/>
                <a:cs typeface="+mn-lt"/>
              </a:rPr>
              <a:t> • SMS confirmations for critical payments</a:t>
            </a:r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16FD05F-46D6-567D-2DFA-0CB0872E3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5579F17-C866-0C6A-2A04-A8A4D14D6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393180FC-12BC-6821-AE1E-D5D6D2F4EA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917"/>
          <a:stretch>
            <a:fillRect/>
          </a:stretch>
        </p:blipFill>
        <p:spPr>
          <a:xfrm>
            <a:off x="8453717" y="10"/>
            <a:ext cx="373828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476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96B73-BF91-D5DE-CECC-23FF7D618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893A78B-5CC6-2449-0724-E7371EC93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7877CA-B933-0CD2-079C-112F36346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575" y="748495"/>
            <a:ext cx="7972612" cy="1405848"/>
          </a:xfrm>
        </p:spPr>
        <p:txBody>
          <a:bodyPr>
            <a:normAutofit/>
          </a:bodyPr>
          <a:lstStyle/>
          <a:p>
            <a:r>
              <a:rPr lang="en-US" sz="4000" dirty="0">
                <a:ea typeface="+mj-lt"/>
                <a:cs typeface="+mj-lt"/>
              </a:rPr>
              <a:t>REFERENCES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1F3E6-5C94-96F1-5674-463EB12D7B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770" y="1015431"/>
            <a:ext cx="9242773" cy="5145559"/>
          </a:xfrm>
        </p:spPr>
        <p:txBody>
          <a:bodyPr vert="horz" lIns="91440" tIns="45720" rIns="91440" bIns="45720" rtlCol="0" anchor="b">
            <a:noAutofit/>
          </a:bodyPr>
          <a:lstStyle/>
          <a:p>
            <a:endParaRPr lang="en-US" b="1" dirty="0"/>
          </a:p>
          <a:p>
            <a:r>
              <a:rPr lang="en-US" dirty="0">
                <a:ea typeface="+mn-lt"/>
                <a:cs typeface="+mn-lt"/>
              </a:rPr>
              <a:t>Hadnagy, C. (2018). </a:t>
            </a:r>
            <a:r>
              <a:rPr lang="en-US" i="1" dirty="0">
                <a:ea typeface="+mn-lt"/>
                <a:cs typeface="+mn-lt"/>
              </a:rPr>
              <a:t>Social engineering: The science of human hacking</a:t>
            </a:r>
            <a:r>
              <a:rPr lang="en-US" dirty="0">
                <a:ea typeface="+mn-lt"/>
                <a:cs typeface="+mn-lt"/>
              </a:rPr>
              <a:t> (2nd ed.). Wiley.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Sheng, S., Holbrook, M., Kumaraguru, P., Cranor, L. F., &amp; Downs, J. (2010). Who falls for phish? A demographic analysis of phishing susceptibility and effectiveness of interventions. </a:t>
            </a:r>
            <a:r>
              <a:rPr lang="en-US" i="1" dirty="0">
                <a:ea typeface="+mn-lt"/>
                <a:cs typeface="+mn-lt"/>
              </a:rPr>
              <a:t>Proceedings of the SIGCHI Conference on Human Factors in Computing Systems</a:t>
            </a:r>
            <a:r>
              <a:rPr lang="en-US" dirty="0">
                <a:ea typeface="+mn-lt"/>
                <a:cs typeface="+mn-lt"/>
              </a:rPr>
              <a:t>, 373–382. </a:t>
            </a:r>
            <a:r>
              <a:rPr lang="en-US" dirty="0">
                <a:ea typeface="+mn-lt"/>
                <a:cs typeface="+mn-lt"/>
                <a:hlinkClick r:id="rId2"/>
              </a:rPr>
              <a:t>https://doi.org/10.1145/1753326.1753383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err="1">
                <a:ea typeface="+mn-lt"/>
                <a:cs typeface="+mn-lt"/>
              </a:rPr>
              <a:t>Choudaha</a:t>
            </a:r>
            <a:r>
              <a:rPr lang="en-US" dirty="0">
                <a:ea typeface="+mn-lt"/>
                <a:cs typeface="+mn-lt"/>
              </a:rPr>
              <a:t>, R., &amp; Schulmann, P. (2014). </a:t>
            </a:r>
            <a:r>
              <a:rPr lang="en-US" i="1" dirty="0">
                <a:ea typeface="+mn-lt"/>
                <a:cs typeface="+mn-lt"/>
              </a:rPr>
              <a:t>Know your neighborhood: Understanding the motivations and expectations of international students</a:t>
            </a:r>
            <a:r>
              <a:rPr lang="en-US" dirty="0">
                <a:ea typeface="+mn-lt"/>
                <a:cs typeface="+mn-lt"/>
              </a:rPr>
              <a:t>. World Education Services. </a:t>
            </a:r>
            <a:r>
              <a:rPr lang="en-US" dirty="0">
                <a:ea typeface="+mn-lt"/>
                <a:cs typeface="+mn-lt"/>
                <a:hlinkClick r:id="rId3"/>
              </a:rPr>
              <a:t>https://wenr.wes.org/</a:t>
            </a:r>
            <a:endParaRPr lang="en-US"/>
          </a:p>
          <a:p>
            <a:endParaRPr lang="en-US" sz="24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EC3C138-08BA-40DA-DC91-44E13B129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DA925AE-193C-69DC-B08C-D892E145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59D143B5-61A9-BCC8-7FB0-A0DF0DE2D5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17"/>
          <a:stretch>
            <a:fillRect/>
          </a:stretch>
        </p:blipFill>
        <p:spPr>
          <a:xfrm>
            <a:off x="9742393" y="10"/>
            <a:ext cx="244960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329973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544</Words>
  <Application>Microsoft Office PowerPoint</Application>
  <PresentationFormat>Widescreen</PresentationFormat>
  <Paragraphs>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Arial,Sans-Serif</vt:lpstr>
      <vt:lpstr>Calisto MT</vt:lpstr>
      <vt:lpstr>Consolas</vt:lpstr>
      <vt:lpstr>Univers Condensed</vt:lpstr>
      <vt:lpstr>ChronicleVTI</vt:lpstr>
      <vt:lpstr>HUMAN SECURITY</vt:lpstr>
      <vt:lpstr>Introduction </vt:lpstr>
      <vt:lpstr>TARGET AUDIENCE</vt:lpstr>
      <vt:lpstr>Target Profile — Demographics &amp; Psychographics</vt:lpstr>
      <vt:lpstr>Reconnaissance Methods / Tools Used</vt:lpstr>
      <vt:lpstr>Social-Engineering (SE) Framework Mapping</vt:lpstr>
      <vt:lpstr>Phishing Email — Visual Example</vt:lpstr>
      <vt:lpstr>Phishing Email — Visual Example</vt:lpstr>
      <vt:lpstr>Why the Target Will Fall For It</vt:lpstr>
      <vt:lpstr>ETHICS AND SAFETY</vt:lpstr>
      <vt:lpstr>Mitigations &amp; Recommendations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Iyke Obed</cp:lastModifiedBy>
  <cp:revision>320</cp:revision>
  <dcterms:created xsi:type="dcterms:W3CDTF">2025-09-27T23:09:39Z</dcterms:created>
  <dcterms:modified xsi:type="dcterms:W3CDTF">2025-09-29T04:25:06Z</dcterms:modified>
</cp:coreProperties>
</file>